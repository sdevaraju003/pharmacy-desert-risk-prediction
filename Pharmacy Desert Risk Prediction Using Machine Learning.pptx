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257" r:id="rId3"/>
    <p:sldId id="258" r:id="rId4"/>
    <p:sldId id="259" r:id="rId5"/>
    <p:sldId id="277" r:id="rId6"/>
    <p:sldId id="269" r:id="rId7"/>
    <p:sldId id="278" r:id="rId8"/>
    <p:sldId id="279" r:id="rId9"/>
    <p:sldId id="270" r:id="rId10"/>
    <p:sldId id="271" r:id="rId11"/>
    <p:sldId id="272" r:id="rId12"/>
    <p:sldId id="274" r:id="rId13"/>
    <p:sldId id="273" r:id="rId14"/>
    <p:sldId id="275" r:id="rId15"/>
    <p:sldId id="280" r:id="rId16"/>
    <p:sldId id="28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8" autoAdjust="0"/>
    <p:restoredTop sz="94660"/>
  </p:normalViewPr>
  <p:slideViewPr>
    <p:cSldViewPr snapToGrid="0">
      <p:cViewPr>
        <p:scale>
          <a:sx n="83" d="100"/>
          <a:sy n="83" d="100"/>
        </p:scale>
        <p:origin x="3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0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A61149-582F-41BE-9AA8-002518BE5E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DA55A66-F524-489C-A2F5-896BB3E5A18B}">
      <dgm:prSet phldrT="[Text]" custT="1"/>
      <dgm:spPr>
        <a:solidFill>
          <a:srgbClr val="002060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PAP Index</a:t>
          </a:r>
        </a:p>
        <a:p>
          <a:pPr algn="l">
            <a:lnSpc>
              <a:spcPct val="100000"/>
            </a:lnSpc>
          </a:pPr>
          <a:r>
            <a:rPr lang="en-IN" sz="14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bene_per_pharmacy_PAP</a:t>
          </a:r>
          <a:endParaRPr lang="en-IN" sz="140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algn="l">
            <a:lnSpc>
              <a:spcPct val="100000"/>
            </a:lnSpc>
          </a:pPr>
          <a:r>
            <a: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Beneficiaries ÷ pharmacies</a:t>
          </a:r>
          <a:endParaRPr lang="en-US" sz="140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5222C963-B274-43B2-94C3-D1B3D4D7223C}" type="parTrans" cxnId="{B9A53F68-0925-4F51-8E80-F85163103067}">
      <dgm:prSet/>
      <dgm:spPr/>
      <dgm:t>
        <a:bodyPr/>
        <a:lstStyle/>
        <a:p>
          <a:endParaRPr lang="en-US" sz="1400"/>
        </a:p>
      </dgm:t>
    </dgm:pt>
    <dgm:pt modelId="{A738C64C-B337-49E6-A766-A1A676ABBC9A}" type="sibTrans" cxnId="{B9A53F68-0925-4F51-8E80-F85163103067}">
      <dgm:prSet custT="1"/>
      <dgm:spPr/>
      <dgm:t>
        <a:bodyPr/>
        <a:lstStyle/>
        <a:p>
          <a:endParaRPr lang="en-US" sz="1400"/>
        </a:p>
      </dgm:t>
    </dgm:pt>
    <dgm:pt modelId="{1ABE3E97-E4A1-43C8-95F7-6EA4DF05369C}">
      <dgm:prSet phldrT="[Text]" custT="1"/>
      <dgm:spPr>
        <a:solidFill>
          <a:srgbClr val="002060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  <a:t>TDF Feature</a:t>
          </a:r>
          <a:b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access_pressure_change_TDF</a:t>
          </a:r>
          <a:b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  <a:t>Yearly % change in PAP</a:t>
          </a:r>
          <a:endParaRPr lang="en-US" sz="135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ED135668-AA2A-4B5D-95F6-608704BB305A}" type="parTrans" cxnId="{2BFE9626-2DA6-4445-8464-321F5DF5D29A}">
      <dgm:prSet/>
      <dgm:spPr/>
      <dgm:t>
        <a:bodyPr/>
        <a:lstStyle/>
        <a:p>
          <a:endParaRPr lang="en-US" sz="1400"/>
        </a:p>
      </dgm:t>
    </dgm:pt>
    <dgm:pt modelId="{402D14FE-471A-4999-96C4-2B1657F11C24}" type="sibTrans" cxnId="{2BFE9626-2DA6-4445-8464-321F5DF5D29A}">
      <dgm:prSet custT="1"/>
      <dgm:spPr/>
      <dgm:t>
        <a:bodyPr/>
        <a:lstStyle/>
        <a:p>
          <a:endParaRPr lang="en-US" sz="1400"/>
        </a:p>
      </dgm:t>
    </dgm:pt>
    <dgm:pt modelId="{6BC66729-C4C3-41C6-8105-CD7CAA73FAF3}">
      <dgm:prSet phldrT="[Text]" custT="1"/>
      <dgm:spPr>
        <a:solidFill>
          <a:srgbClr val="002060"/>
        </a:solidFill>
        <a:ln>
          <a:solidFill>
            <a:srgbClr val="002060"/>
          </a:solidFill>
        </a:ln>
      </dgm:spPr>
      <dgm:t>
        <a:bodyPr/>
        <a:lstStyle/>
        <a:p>
          <a:pPr algn="l">
            <a:lnSpc>
              <a:spcPct val="100000"/>
            </a:lnSpc>
            <a:buNone/>
          </a:pPr>
          <a: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  <a:t>Risk Label</a:t>
          </a:r>
          <a:b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Desert_Formation_Risk</a:t>
          </a:r>
          <a:b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  <a:t>≥25% increase = High Risk</a:t>
          </a:r>
          <a:b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dirty="0">
              <a:latin typeface="Times New Roman" panose="02020603050405020304" pitchFamily="18" charset="0"/>
              <a:cs typeface="Times New Roman" panose="02020603050405020304" pitchFamily="18" charset="0"/>
            </a:rPr>
            <a:t>&lt;25% increase = Low Risk</a:t>
          </a:r>
          <a:endParaRPr lang="en-US" sz="135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DFE21639-40C6-4308-9E15-9A098C255A8A}" type="parTrans" cxnId="{396E7754-C950-447F-A79B-B42D4FACD9D4}">
      <dgm:prSet/>
      <dgm:spPr/>
      <dgm:t>
        <a:bodyPr/>
        <a:lstStyle/>
        <a:p>
          <a:endParaRPr lang="en-US" sz="1400"/>
        </a:p>
      </dgm:t>
    </dgm:pt>
    <dgm:pt modelId="{CA23CBEA-A58C-42E5-B9B4-AACFEC27A91A}" type="sibTrans" cxnId="{396E7754-C950-447F-A79B-B42D4FACD9D4}">
      <dgm:prSet/>
      <dgm:spPr/>
      <dgm:t>
        <a:bodyPr/>
        <a:lstStyle/>
        <a:p>
          <a:endParaRPr lang="en-US" sz="1400"/>
        </a:p>
      </dgm:t>
    </dgm:pt>
    <dgm:pt modelId="{0BD880D7-FA03-425C-8B2A-B0DA9BBA070A}">
      <dgm:prSet phldrT="[Text]" custT="1"/>
      <dgm:spPr>
        <a:solidFill>
          <a:srgbClr val="002060"/>
        </a:solidFill>
        <a:ln>
          <a:solidFill>
            <a:schemeClr val="bg1"/>
          </a:solidFill>
        </a:ln>
      </dgm:spPr>
      <dgm:t>
        <a:bodyPr/>
        <a:lstStyle/>
        <a:p>
          <a:pPr algn="l">
            <a:lnSpc>
              <a:spcPct val="100000"/>
            </a:lnSpc>
          </a:pPr>
          <a:r>
            <a:rPr lang="en-IN" sz="1350" b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Pharmacy Count</a:t>
          </a:r>
        </a:p>
        <a:p>
          <a:pPr algn="l">
            <a:lnSpc>
              <a:spcPct val="100000"/>
            </a:lnSpc>
          </a:pPr>
          <a:r>
            <a:rPr lang="en-IN" sz="1350" b="0" dirty="0" err="1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pharmacy_per_county_year</a:t>
          </a:r>
          <a:endParaRPr lang="en-IN" sz="1350" b="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  <a:p>
          <a:pPr algn="l">
            <a:lnSpc>
              <a:spcPct val="100000"/>
            </a:lnSpc>
          </a:pPr>
          <a:r>
            <a:rPr lang="en-IN" sz="1350" b="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Unique pharmacies per county-year</a:t>
          </a:r>
          <a:endParaRPr lang="en-US" sz="1350" b="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gm:t>
    </dgm:pt>
    <dgm:pt modelId="{C5767DE1-6326-44D8-8AF1-3218134A01A2}" type="parTrans" cxnId="{777632AC-5AD8-4746-99A4-B63139EE9107}">
      <dgm:prSet/>
      <dgm:spPr/>
      <dgm:t>
        <a:bodyPr/>
        <a:lstStyle/>
        <a:p>
          <a:endParaRPr lang="en-US" sz="1400"/>
        </a:p>
      </dgm:t>
    </dgm:pt>
    <dgm:pt modelId="{50B8FDB5-D23F-49EA-B8C2-2B209331F767}" type="sibTrans" cxnId="{777632AC-5AD8-4746-99A4-B63139EE9107}">
      <dgm:prSet custT="1"/>
      <dgm:spPr/>
      <dgm:t>
        <a:bodyPr/>
        <a:lstStyle/>
        <a:p>
          <a:endParaRPr lang="en-US" sz="1400"/>
        </a:p>
      </dgm:t>
    </dgm:pt>
    <dgm:pt modelId="{D3E2D8F8-49A3-4C46-96F4-FEFE66D2022C}" type="pres">
      <dgm:prSet presAssocID="{E2A61149-582F-41BE-9AA8-002518BE5EB6}" presName="Name0" presStyleCnt="0">
        <dgm:presLayoutVars>
          <dgm:dir/>
          <dgm:resizeHandles val="exact"/>
        </dgm:presLayoutVars>
      </dgm:prSet>
      <dgm:spPr/>
    </dgm:pt>
    <dgm:pt modelId="{41F8F785-4A7C-4071-ABB2-5B32A5DED026}" type="pres">
      <dgm:prSet presAssocID="{0BD880D7-FA03-425C-8B2A-B0DA9BBA070A}" presName="node" presStyleLbl="node1" presStyleIdx="0" presStyleCnt="4" custLinFactNeighborX="3826" custLinFactNeighborY="-1384">
        <dgm:presLayoutVars>
          <dgm:bulletEnabled val="1"/>
        </dgm:presLayoutVars>
      </dgm:prSet>
      <dgm:spPr/>
    </dgm:pt>
    <dgm:pt modelId="{A22A0F38-A988-482F-AF16-9E604FAD1889}" type="pres">
      <dgm:prSet presAssocID="{50B8FDB5-D23F-49EA-B8C2-2B209331F767}" presName="sibTrans" presStyleLbl="sibTrans2D1" presStyleIdx="0" presStyleCnt="3"/>
      <dgm:spPr/>
    </dgm:pt>
    <dgm:pt modelId="{700E1555-985D-4CCE-BBF0-9F3D4D3C7C9D}" type="pres">
      <dgm:prSet presAssocID="{50B8FDB5-D23F-49EA-B8C2-2B209331F767}" presName="connectorText" presStyleLbl="sibTrans2D1" presStyleIdx="0" presStyleCnt="3"/>
      <dgm:spPr/>
    </dgm:pt>
    <dgm:pt modelId="{2A5E5D9C-5AEC-4DAA-A354-421CF58A6B3C}" type="pres">
      <dgm:prSet presAssocID="{BDA55A66-F524-489C-A2F5-896BB3E5A18B}" presName="node" presStyleLbl="node1" presStyleIdx="1" presStyleCnt="4">
        <dgm:presLayoutVars>
          <dgm:bulletEnabled val="1"/>
        </dgm:presLayoutVars>
      </dgm:prSet>
      <dgm:spPr/>
    </dgm:pt>
    <dgm:pt modelId="{EDF89926-079C-493F-8812-BD6E219E6AB6}" type="pres">
      <dgm:prSet presAssocID="{A738C64C-B337-49E6-A766-A1A676ABBC9A}" presName="sibTrans" presStyleLbl="sibTrans2D1" presStyleIdx="1" presStyleCnt="3"/>
      <dgm:spPr/>
    </dgm:pt>
    <dgm:pt modelId="{68B934F8-E3C5-4DD0-89DE-35997E56B73A}" type="pres">
      <dgm:prSet presAssocID="{A738C64C-B337-49E6-A766-A1A676ABBC9A}" presName="connectorText" presStyleLbl="sibTrans2D1" presStyleIdx="1" presStyleCnt="3"/>
      <dgm:spPr/>
    </dgm:pt>
    <dgm:pt modelId="{EC5E5459-80CD-48CD-A018-E4865DA6F7AD}" type="pres">
      <dgm:prSet presAssocID="{1ABE3E97-E4A1-43C8-95F7-6EA4DF05369C}" presName="node" presStyleLbl="node1" presStyleIdx="2" presStyleCnt="4">
        <dgm:presLayoutVars>
          <dgm:bulletEnabled val="1"/>
        </dgm:presLayoutVars>
      </dgm:prSet>
      <dgm:spPr/>
    </dgm:pt>
    <dgm:pt modelId="{4960D4A3-8B88-4AEB-ADD3-3127B4D0D6D2}" type="pres">
      <dgm:prSet presAssocID="{402D14FE-471A-4999-96C4-2B1657F11C24}" presName="sibTrans" presStyleLbl="sibTrans2D1" presStyleIdx="2" presStyleCnt="3"/>
      <dgm:spPr/>
    </dgm:pt>
    <dgm:pt modelId="{6D513587-FF96-4388-9EB5-E0ECA9036B6D}" type="pres">
      <dgm:prSet presAssocID="{402D14FE-471A-4999-96C4-2B1657F11C24}" presName="connectorText" presStyleLbl="sibTrans2D1" presStyleIdx="2" presStyleCnt="3"/>
      <dgm:spPr/>
    </dgm:pt>
    <dgm:pt modelId="{5D40ADF5-F7E2-4713-A957-4412C6AAEB64}" type="pres">
      <dgm:prSet presAssocID="{6BC66729-C4C3-41C6-8105-CD7CAA73FAF3}" presName="node" presStyleLbl="node1" presStyleIdx="3" presStyleCnt="4" custLinFactNeighborY="824">
        <dgm:presLayoutVars>
          <dgm:bulletEnabled val="1"/>
        </dgm:presLayoutVars>
      </dgm:prSet>
      <dgm:spPr/>
    </dgm:pt>
  </dgm:ptLst>
  <dgm:cxnLst>
    <dgm:cxn modelId="{02DEA308-A1EB-463C-BA3C-F67F3168C799}" type="presOf" srcId="{A738C64C-B337-49E6-A766-A1A676ABBC9A}" destId="{EDF89926-079C-493F-8812-BD6E219E6AB6}" srcOrd="0" destOrd="0" presId="urn:microsoft.com/office/officeart/2005/8/layout/process1"/>
    <dgm:cxn modelId="{C72E801F-611B-4304-AB1A-3794E05D9CF0}" type="presOf" srcId="{50B8FDB5-D23F-49EA-B8C2-2B209331F767}" destId="{A22A0F38-A988-482F-AF16-9E604FAD1889}" srcOrd="0" destOrd="0" presId="urn:microsoft.com/office/officeart/2005/8/layout/process1"/>
    <dgm:cxn modelId="{8E4B9121-B1BC-40F6-B21B-F6A0B3DD50C9}" type="presOf" srcId="{402D14FE-471A-4999-96C4-2B1657F11C24}" destId="{4960D4A3-8B88-4AEB-ADD3-3127B4D0D6D2}" srcOrd="0" destOrd="0" presId="urn:microsoft.com/office/officeart/2005/8/layout/process1"/>
    <dgm:cxn modelId="{2BFE9626-2DA6-4445-8464-321F5DF5D29A}" srcId="{E2A61149-582F-41BE-9AA8-002518BE5EB6}" destId="{1ABE3E97-E4A1-43C8-95F7-6EA4DF05369C}" srcOrd="2" destOrd="0" parTransId="{ED135668-AA2A-4B5D-95F6-608704BB305A}" sibTransId="{402D14FE-471A-4999-96C4-2B1657F11C24}"/>
    <dgm:cxn modelId="{B8C9842D-240C-43FA-9E52-8C8FB90F6759}" type="presOf" srcId="{50B8FDB5-D23F-49EA-B8C2-2B209331F767}" destId="{700E1555-985D-4CCE-BBF0-9F3D4D3C7C9D}" srcOrd="1" destOrd="0" presId="urn:microsoft.com/office/officeart/2005/8/layout/process1"/>
    <dgm:cxn modelId="{1489033C-8A53-49C6-BD2C-6CA7A42F66C6}" type="presOf" srcId="{E2A61149-582F-41BE-9AA8-002518BE5EB6}" destId="{D3E2D8F8-49A3-4C46-96F4-FEFE66D2022C}" srcOrd="0" destOrd="0" presId="urn:microsoft.com/office/officeart/2005/8/layout/process1"/>
    <dgm:cxn modelId="{B9A53F68-0925-4F51-8E80-F85163103067}" srcId="{E2A61149-582F-41BE-9AA8-002518BE5EB6}" destId="{BDA55A66-F524-489C-A2F5-896BB3E5A18B}" srcOrd="1" destOrd="0" parTransId="{5222C963-B274-43B2-94C3-D1B3D4D7223C}" sibTransId="{A738C64C-B337-49E6-A766-A1A676ABBC9A}"/>
    <dgm:cxn modelId="{C6CBA651-3C0E-4186-AC65-C057F4F90064}" type="presOf" srcId="{402D14FE-471A-4999-96C4-2B1657F11C24}" destId="{6D513587-FF96-4388-9EB5-E0ECA9036B6D}" srcOrd="1" destOrd="0" presId="urn:microsoft.com/office/officeart/2005/8/layout/process1"/>
    <dgm:cxn modelId="{396E7754-C950-447F-A79B-B42D4FACD9D4}" srcId="{E2A61149-582F-41BE-9AA8-002518BE5EB6}" destId="{6BC66729-C4C3-41C6-8105-CD7CAA73FAF3}" srcOrd="3" destOrd="0" parTransId="{DFE21639-40C6-4308-9E15-9A098C255A8A}" sibTransId="{CA23CBEA-A58C-42E5-B9B4-AACFEC27A91A}"/>
    <dgm:cxn modelId="{777632AC-5AD8-4746-99A4-B63139EE9107}" srcId="{E2A61149-582F-41BE-9AA8-002518BE5EB6}" destId="{0BD880D7-FA03-425C-8B2A-B0DA9BBA070A}" srcOrd="0" destOrd="0" parTransId="{C5767DE1-6326-44D8-8AF1-3218134A01A2}" sibTransId="{50B8FDB5-D23F-49EA-B8C2-2B209331F767}"/>
    <dgm:cxn modelId="{094ACEC2-2284-4638-97DB-7F2FA73AF166}" type="presOf" srcId="{BDA55A66-F524-489C-A2F5-896BB3E5A18B}" destId="{2A5E5D9C-5AEC-4DAA-A354-421CF58A6B3C}" srcOrd="0" destOrd="0" presId="urn:microsoft.com/office/officeart/2005/8/layout/process1"/>
    <dgm:cxn modelId="{611FDDC8-F508-45ED-940D-A26DB3483DEA}" type="presOf" srcId="{0BD880D7-FA03-425C-8B2A-B0DA9BBA070A}" destId="{41F8F785-4A7C-4071-ABB2-5B32A5DED026}" srcOrd="0" destOrd="0" presId="urn:microsoft.com/office/officeart/2005/8/layout/process1"/>
    <dgm:cxn modelId="{C4F565CB-AA9B-47E0-A2E7-D15197EE0C58}" type="presOf" srcId="{1ABE3E97-E4A1-43C8-95F7-6EA4DF05369C}" destId="{EC5E5459-80CD-48CD-A018-E4865DA6F7AD}" srcOrd="0" destOrd="0" presId="urn:microsoft.com/office/officeart/2005/8/layout/process1"/>
    <dgm:cxn modelId="{415EC5CE-8EA5-4469-AE70-6BDFD6CDED3C}" type="presOf" srcId="{6BC66729-C4C3-41C6-8105-CD7CAA73FAF3}" destId="{5D40ADF5-F7E2-4713-A957-4412C6AAEB64}" srcOrd="0" destOrd="0" presId="urn:microsoft.com/office/officeart/2005/8/layout/process1"/>
    <dgm:cxn modelId="{B7193CDE-1C3E-44A7-A122-3E6B472F08D6}" type="presOf" srcId="{A738C64C-B337-49E6-A766-A1A676ABBC9A}" destId="{68B934F8-E3C5-4DD0-89DE-35997E56B73A}" srcOrd="1" destOrd="0" presId="urn:microsoft.com/office/officeart/2005/8/layout/process1"/>
    <dgm:cxn modelId="{569F1C23-51F3-4185-ABAD-A8E441B97310}" type="presParOf" srcId="{D3E2D8F8-49A3-4C46-96F4-FEFE66D2022C}" destId="{41F8F785-4A7C-4071-ABB2-5B32A5DED026}" srcOrd="0" destOrd="0" presId="urn:microsoft.com/office/officeart/2005/8/layout/process1"/>
    <dgm:cxn modelId="{B12E719C-AE63-4778-AF02-7A5FC7C66282}" type="presParOf" srcId="{D3E2D8F8-49A3-4C46-96F4-FEFE66D2022C}" destId="{A22A0F38-A988-482F-AF16-9E604FAD1889}" srcOrd="1" destOrd="0" presId="urn:microsoft.com/office/officeart/2005/8/layout/process1"/>
    <dgm:cxn modelId="{A7C6439F-90E9-48EC-8D3F-8B0BF4BAC280}" type="presParOf" srcId="{A22A0F38-A988-482F-AF16-9E604FAD1889}" destId="{700E1555-985D-4CCE-BBF0-9F3D4D3C7C9D}" srcOrd="0" destOrd="0" presId="urn:microsoft.com/office/officeart/2005/8/layout/process1"/>
    <dgm:cxn modelId="{9EF90C1F-48B3-4302-828E-6AE421BCCDA9}" type="presParOf" srcId="{D3E2D8F8-49A3-4C46-96F4-FEFE66D2022C}" destId="{2A5E5D9C-5AEC-4DAA-A354-421CF58A6B3C}" srcOrd="2" destOrd="0" presId="urn:microsoft.com/office/officeart/2005/8/layout/process1"/>
    <dgm:cxn modelId="{E422CE22-C270-44AF-B988-EA81CC3258ED}" type="presParOf" srcId="{D3E2D8F8-49A3-4C46-96F4-FEFE66D2022C}" destId="{EDF89926-079C-493F-8812-BD6E219E6AB6}" srcOrd="3" destOrd="0" presId="urn:microsoft.com/office/officeart/2005/8/layout/process1"/>
    <dgm:cxn modelId="{BB02F9BE-4CFD-48DD-A095-58B5AE2F2B93}" type="presParOf" srcId="{EDF89926-079C-493F-8812-BD6E219E6AB6}" destId="{68B934F8-E3C5-4DD0-89DE-35997E56B73A}" srcOrd="0" destOrd="0" presId="urn:microsoft.com/office/officeart/2005/8/layout/process1"/>
    <dgm:cxn modelId="{498A06E7-9872-4BF1-A826-75FB1DDDCBE0}" type="presParOf" srcId="{D3E2D8F8-49A3-4C46-96F4-FEFE66D2022C}" destId="{EC5E5459-80CD-48CD-A018-E4865DA6F7AD}" srcOrd="4" destOrd="0" presId="urn:microsoft.com/office/officeart/2005/8/layout/process1"/>
    <dgm:cxn modelId="{842257E6-8CC5-48E6-AC1C-83EDAF9E80F0}" type="presParOf" srcId="{D3E2D8F8-49A3-4C46-96F4-FEFE66D2022C}" destId="{4960D4A3-8B88-4AEB-ADD3-3127B4D0D6D2}" srcOrd="5" destOrd="0" presId="urn:microsoft.com/office/officeart/2005/8/layout/process1"/>
    <dgm:cxn modelId="{D6650059-F18D-4612-88B7-57B6DACF526C}" type="presParOf" srcId="{4960D4A3-8B88-4AEB-ADD3-3127B4D0D6D2}" destId="{6D513587-FF96-4388-9EB5-E0ECA9036B6D}" srcOrd="0" destOrd="0" presId="urn:microsoft.com/office/officeart/2005/8/layout/process1"/>
    <dgm:cxn modelId="{904BA7D6-987A-4DD0-87CB-26F5A052E894}" type="presParOf" srcId="{D3E2D8F8-49A3-4C46-96F4-FEFE66D2022C}" destId="{5D40ADF5-F7E2-4713-A957-4412C6AAEB6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8F785-4A7C-4071-ABB2-5B32A5DED026}">
      <dsp:nvSpPr>
        <dsp:cNvPr id="0" name=""/>
        <dsp:cNvSpPr/>
      </dsp:nvSpPr>
      <dsp:spPr>
        <a:xfrm>
          <a:off x="40955" y="938481"/>
          <a:ext cx="2328190" cy="1396914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0007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50" b="0" kern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Pharmacy Count</a:t>
          </a:r>
        </a:p>
        <a:p>
          <a:pPr marL="0" lvl="0" indent="0" algn="l" defTabSz="60007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50" b="0" kern="1200" dirty="0" err="1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pharmacy_per_county_year</a:t>
          </a:r>
          <a:endParaRPr lang="en-IN" sz="1350" b="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  <a:p>
          <a:pPr marL="0" lvl="0" indent="0" algn="l" defTabSz="60007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50" b="0" kern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rPr>
            <a:t>Unique pharmacies per county-year</a:t>
          </a:r>
          <a:endParaRPr lang="en-US" sz="1350" b="0" kern="1200" dirty="0">
            <a:latin typeface="Times New Roman" panose="02020603050405020304" pitchFamily="18" charset="0"/>
            <a:ea typeface="Tahoma" panose="020B0604030504040204" pitchFamily="34" charset="0"/>
            <a:cs typeface="Times New Roman" panose="02020603050405020304" pitchFamily="18" charset="0"/>
          </a:endParaRPr>
        </a:p>
      </dsp:txBody>
      <dsp:txXfrm>
        <a:off x="81869" y="979395"/>
        <a:ext cx="2246362" cy="1315086"/>
      </dsp:txXfrm>
    </dsp:sp>
    <dsp:sp modelId="{A22A0F38-A988-482F-AF16-9E604FAD1889}">
      <dsp:nvSpPr>
        <dsp:cNvPr id="0" name=""/>
        <dsp:cNvSpPr/>
      </dsp:nvSpPr>
      <dsp:spPr>
        <a:xfrm rot="20616">
          <a:off x="2593052" y="1357990"/>
          <a:ext cx="474700" cy="577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593053" y="1473041"/>
        <a:ext cx="332290" cy="346435"/>
      </dsp:txXfrm>
    </dsp:sp>
    <dsp:sp modelId="{2A5E5D9C-5AEC-4DAA-A354-421CF58A6B3C}">
      <dsp:nvSpPr>
        <dsp:cNvPr id="0" name=""/>
        <dsp:cNvSpPr/>
      </dsp:nvSpPr>
      <dsp:spPr>
        <a:xfrm>
          <a:off x="3264790" y="957814"/>
          <a:ext cx="2328190" cy="1396914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PAP Index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bene_per_pharmacy_PAP</a:t>
          </a:r>
          <a:endParaRPr lang="en-IN" sz="1400" kern="120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Beneficiaries ÷ pharmacies</a:t>
          </a:r>
          <a:endParaRPr lang="en-US" sz="1400" kern="120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3305704" y="998728"/>
        <a:ext cx="2246362" cy="1315086"/>
      </dsp:txXfrm>
    </dsp:sp>
    <dsp:sp modelId="{EDF89926-079C-493F-8812-BD6E219E6AB6}">
      <dsp:nvSpPr>
        <dsp:cNvPr id="0" name=""/>
        <dsp:cNvSpPr/>
      </dsp:nvSpPr>
      <dsp:spPr>
        <a:xfrm>
          <a:off x="5825799" y="1367576"/>
          <a:ext cx="493576" cy="577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25799" y="1483054"/>
        <a:ext cx="345503" cy="346435"/>
      </dsp:txXfrm>
    </dsp:sp>
    <dsp:sp modelId="{EC5E5459-80CD-48CD-A018-E4865DA6F7AD}">
      <dsp:nvSpPr>
        <dsp:cNvPr id="0" name=""/>
        <dsp:cNvSpPr/>
      </dsp:nvSpPr>
      <dsp:spPr>
        <a:xfrm>
          <a:off x="6524257" y="957814"/>
          <a:ext cx="2328190" cy="1396914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0007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TDF Feature</a:t>
          </a:r>
          <a:b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access_pressure_change_TDF</a:t>
          </a:r>
          <a:b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Yearly % change in PAP</a:t>
          </a:r>
          <a:endParaRPr lang="en-US" sz="1350" kern="120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6565171" y="998728"/>
        <a:ext cx="2246362" cy="1315086"/>
      </dsp:txXfrm>
    </dsp:sp>
    <dsp:sp modelId="{4960D4A3-8B88-4AEB-ADD3-3127B4D0D6D2}">
      <dsp:nvSpPr>
        <dsp:cNvPr id="0" name=""/>
        <dsp:cNvSpPr/>
      </dsp:nvSpPr>
      <dsp:spPr>
        <a:xfrm rot="12140">
          <a:off x="9085264" y="1373381"/>
          <a:ext cx="493579" cy="577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085264" y="1488598"/>
        <a:ext cx="345505" cy="346435"/>
      </dsp:txXfrm>
    </dsp:sp>
    <dsp:sp modelId="{5D40ADF5-F7E2-4713-A957-4412C6AAEB64}">
      <dsp:nvSpPr>
        <dsp:cNvPr id="0" name=""/>
        <dsp:cNvSpPr/>
      </dsp:nvSpPr>
      <dsp:spPr>
        <a:xfrm>
          <a:off x="9783723" y="969325"/>
          <a:ext cx="2328190" cy="1396914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0007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Risk Label</a:t>
          </a:r>
          <a:b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Desert_Formation_Risk</a:t>
          </a:r>
          <a:b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≥25% increase = High Risk</a:t>
          </a:r>
          <a:b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13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&lt;25% increase = Low Risk</a:t>
          </a:r>
          <a:endParaRPr lang="en-US" sz="1350" kern="1200" dirty="0"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9824637" y="1010239"/>
        <a:ext cx="2246362" cy="1315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7DBBB-6DEE-40D7-B49C-6B644193824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0572B-7ADC-429F-8207-58A06A826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94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0572B-7ADC-429F-8207-58A06A826A2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12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2756-726D-F72E-C74C-458824160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99D42-EC35-FF6F-380D-7611ADD43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5E6AC-FE8E-4534-BBFF-8F10819C9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DD6DE-4C4D-0068-3CC5-BDE5DF5F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E8943-E172-FC4B-9C3A-9B24C749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9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DD41-D8DC-C7A8-42F2-CB996ED76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4A0E6-0446-B74E-FB85-D5DBF9E1B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92D1A-D11E-CBDE-69A3-53CD40AD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82838-FA87-0D13-1983-F0C1D3AD1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94615-FBA1-AF0F-1343-9CAB4B98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97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6223-584F-F490-3EFB-4E73DB71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91A80-0805-DCA4-CB50-C07D69A32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C760-47F1-51E6-B141-BB588D86D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00ACF-84C9-0462-8658-BBAEB89E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272E7-B1C8-E5D0-11EB-8227119B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26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87E9-F06C-D856-94E2-A78DE3A1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FFD2-96FF-E383-8E5C-058EB3BF2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F42E1-53FB-F96F-6FC7-13E4DAB22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BC7A2-8840-2A4E-219D-BC28D8DD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D2122-07B7-DE8E-DDF2-995057F9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43E9A-F0FE-49DE-CE2A-D4719115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9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04D7-833C-1138-533D-2690A6C9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F11F8-4F0B-CE0E-DDEE-C3ADB917B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AA3B1-A478-83EF-F513-6917204DE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B8B39-0867-3FFE-4357-8E8CF4441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EFEAB0-5955-267B-C792-B958631E1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FDDDC-9315-5AE5-1699-4F3E787A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DD853-E02E-74E9-EC72-C1E8DD72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A38B64-C1FE-FC6F-7A79-166BEA50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2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B2B5-1F4A-DC30-3D90-4DA3E8EE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220C2-CCD0-BCC4-8926-80FEB3DC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04603-9A52-2240-BAE4-0F4ACB24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BB882-4B60-50A6-30F7-C1D54477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44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16F73-7D99-76C6-98DE-D18D807A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CD9FC-0D67-4956-DDB5-EADCF5A9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9173F-8A71-1BCE-0621-9DA2AC03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625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18DE-8B4E-86D2-8193-C8F124AE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4D91C-4C2C-106D-A4C1-2B6A9CE47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08FEC-2F0F-0461-4A59-0AE329A1A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2E37A-EDB2-4B34-D69C-B7274566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7F35E-ED64-86DF-9AE2-FDBA1764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5CF69-F761-6FA0-F7C7-C6C192C5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8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A3E8-998D-162D-CC14-F6EAB6EB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71866-E598-B386-25AC-02AA53F4C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3E5FE-E9E7-BEC5-DDD6-6AC98C5CD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48DE0-BED4-DDF6-D38E-E94AC0F2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8FF01-B2DB-1936-7FEC-902C3417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9563F-3DE8-7EF8-B46D-88E31BCC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23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32BB-7AEE-8F7E-6E6D-F7B1C07D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E19AB-C0D0-CE44-0195-644B0DDF7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70A57-D39F-18A8-DE65-1C124029A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8589C-4624-EEE2-7295-33CCB281B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7692-647A-43D2-6860-3CD470BC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65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AA092-2956-18B5-D71A-982C9F210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FA8C1-AF50-B4B5-F71D-C0552BFBB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F5A8F-0095-FBB5-EE05-2B519F24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0078-2672-A63A-D1CA-1D568083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D5D2B-7596-6DF8-8D13-8350A4E6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62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071ED-37BC-C73A-0D65-96ABEF555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F4805-09D7-043C-F3CA-4A6C29F6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DCE86-A12D-7AFA-9E96-80A0C778F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F28DC-FE9F-49E8-95EB-1D5BBB00022A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485F9-9364-6216-A8C4-D667DAA51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FC1E-D01F-A4CF-01CA-99D704C86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AF7F2-E9A3-4348-AC04-741BFDAF5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58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3D77-7127-1051-993D-007B10ED6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Pharmacy Desert Risk Prediction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9B124-631B-E372-F23F-0F64F3394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Sriram Devaraju </a:t>
            </a:r>
          </a:p>
          <a:p>
            <a:r>
              <a:rPr lang="en-US" dirty="0"/>
              <a:t>Regis University </a:t>
            </a:r>
          </a:p>
          <a:p>
            <a:r>
              <a:rPr lang="en-US" dirty="0"/>
              <a:t>MSDS692 Practicum-I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52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828F-A304-EC02-C2C4-58A1468D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075" y="116023"/>
            <a:ext cx="4393721" cy="87889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ACEE5-4056-C146-B9D2-1935290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68" y="1340771"/>
            <a:ext cx="4970077" cy="379054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Pharmacy deserts limits medication access.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pharmacy counties experience high access pressure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Populations face burden managing chronic diseases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counties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where the pharmacy deserts occur 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he Growth of Pharmacy Deserts and How Rx Partnership Helps">
            <a:extLst>
              <a:ext uri="{FF2B5EF4-FFF2-40B4-BE49-F238E27FC236}">
                <a16:creationId xmlns:a16="http://schemas.microsoft.com/office/drawing/2014/main" id="{5DF46BCD-667B-5342-8FD6-7EF033C9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40771"/>
            <a:ext cx="5662342" cy="3684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F2F563-6A09-4CF7-140C-B744725CE903}"/>
              </a:ext>
            </a:extLst>
          </p:cNvPr>
          <p:cNvSpPr txBox="1"/>
          <p:nvPr/>
        </p:nvSpPr>
        <p:spPr>
          <a:xfrm>
            <a:off x="11013057" y="51478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88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5DEC-F09B-7BEC-0E70-8133FC713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077" y="116023"/>
            <a:ext cx="6205268" cy="91339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4ED33-66CE-31CA-6435-B03BCB867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2" y="1676101"/>
            <a:ext cx="4717211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Pharmacy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pressure changes across the county over the time 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detecting high-risk counties are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 miss spatial-temporal patterns.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 : binary classification of counties as Low-risk or High-risk.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Pharmacy Deserts: Overlooked Barriers - Charitable Pharmacies of America">
            <a:extLst>
              <a:ext uri="{FF2B5EF4-FFF2-40B4-BE49-F238E27FC236}">
                <a16:creationId xmlns:a16="http://schemas.microsoft.com/office/drawing/2014/main" id="{B7EA14A8-0CB0-4458-E34D-645825DEC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0" y="1410630"/>
            <a:ext cx="4814925" cy="413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7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E15F-A25B-ACEE-5943-28628199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67" y="138023"/>
            <a:ext cx="5206042" cy="997527"/>
          </a:xfrm>
        </p:spPr>
        <p:txBody>
          <a:bodyPr/>
          <a:lstStyle/>
          <a:p>
            <a:r>
              <a:rPr lang="en-US" dirty="0"/>
              <a:t>DATA COLLECTION 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ABB2D8D-822A-62DE-D996-05515DC64C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4396996"/>
              </p:ext>
            </p:extLst>
          </p:nvPr>
        </p:nvGraphicFramePr>
        <p:xfrm>
          <a:off x="868392" y="1834400"/>
          <a:ext cx="10565917" cy="31891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91156">
                  <a:extLst>
                    <a:ext uri="{9D8B030D-6E8A-4147-A177-3AD203B41FA5}">
                      <a16:colId xmlns:a16="http://schemas.microsoft.com/office/drawing/2014/main" val="1637916196"/>
                    </a:ext>
                  </a:extLst>
                </a:gridCol>
                <a:gridCol w="3852789">
                  <a:extLst>
                    <a:ext uri="{9D8B030D-6E8A-4147-A177-3AD203B41FA5}">
                      <a16:colId xmlns:a16="http://schemas.microsoft.com/office/drawing/2014/main" val="2643518398"/>
                    </a:ext>
                  </a:extLst>
                </a:gridCol>
                <a:gridCol w="3521972">
                  <a:extLst>
                    <a:ext uri="{9D8B030D-6E8A-4147-A177-3AD203B41FA5}">
                      <a16:colId xmlns:a16="http://schemas.microsoft.com/office/drawing/2014/main" val="4294064880"/>
                    </a:ext>
                  </a:extLst>
                </a:gridCol>
              </a:tblGrid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303176"/>
                  </a:ext>
                </a:extLst>
              </a:tr>
              <a:tr h="512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CMS Medicare Part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ZIP, claims, drug cost, beneficiaries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Pharmacy utilization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961062"/>
                  </a:ext>
                </a:extLst>
              </a:tr>
              <a:tr h="512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County Health Rankings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outcome and factor ranks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County health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732348"/>
                  </a:ext>
                </a:extLst>
              </a:tr>
              <a:tr h="885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USDA 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Employment, labor force, unemployment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County economic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681162"/>
                  </a:ext>
                </a:extLst>
              </a:tr>
              <a:tr h="77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ZIP–County Crosswalk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ZIP-to-FIPS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County-level conversion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283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27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6129-3EEE-FCCB-4D95-1B1F7758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064" y="133275"/>
            <a:ext cx="10515600" cy="93065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Cleaning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CAE3A7A3-6AEB-089F-7DE8-A8539C1C9797}"/>
              </a:ext>
            </a:extLst>
          </p:cNvPr>
          <p:cNvSpPr/>
          <p:nvPr/>
        </p:nvSpPr>
        <p:spPr>
          <a:xfrm>
            <a:off x="350809" y="2820066"/>
            <a:ext cx="2944482" cy="170803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CMS Medicare Part 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County Health Rankings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USDA 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ZIP–County Crosswalk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5285877-B834-CA58-4716-70E40F405A73}"/>
              </a:ext>
            </a:extLst>
          </p:cNvPr>
          <p:cNvSpPr/>
          <p:nvPr/>
        </p:nvSpPr>
        <p:spPr>
          <a:xfrm>
            <a:off x="4166558" y="2622711"/>
            <a:ext cx="3942272" cy="266240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DuckDB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aggregate large CMS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ZIP-level records to county FIPS.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data to county-year level.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pharmacy, health, and economic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“NR” values to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5 fully missing columns.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124 USDA missing values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CB87AD7-D1E2-1321-DE96-12A5EAB61DEF}"/>
              </a:ext>
            </a:extLst>
          </p:cNvPr>
          <p:cNvSpPr/>
          <p:nvPr/>
        </p:nvSpPr>
        <p:spPr>
          <a:xfrm>
            <a:off x="9264770" y="2820066"/>
            <a:ext cx="2714446" cy="170803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25,324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County-year format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model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7BBB45-C3CB-B6E3-8C7D-FFBF8F254F01}"/>
              </a:ext>
            </a:extLst>
          </p:cNvPr>
          <p:cNvSpPr txBox="1"/>
          <p:nvPr/>
        </p:nvSpPr>
        <p:spPr>
          <a:xfrm>
            <a:off x="477328" y="2076092"/>
            <a:ext cx="2817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Input  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C55DC-E5D4-7A36-CAFF-CB72E03DC8A2}"/>
              </a:ext>
            </a:extLst>
          </p:cNvPr>
          <p:cNvSpPr txBox="1"/>
          <p:nvPr/>
        </p:nvSpPr>
        <p:spPr>
          <a:xfrm>
            <a:off x="3829410" y="2076092"/>
            <a:ext cx="4642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A08FD-32B0-F8AF-00A3-B8F0352A3BEE}"/>
              </a:ext>
            </a:extLst>
          </p:cNvPr>
          <p:cNvSpPr txBox="1"/>
          <p:nvPr/>
        </p:nvSpPr>
        <p:spPr>
          <a:xfrm>
            <a:off x="9264770" y="2012830"/>
            <a:ext cx="2587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</a:t>
            </a:r>
          </a:p>
        </p:txBody>
      </p:sp>
    </p:spTree>
    <p:extLst>
      <p:ext uri="{BB962C8B-B14F-4D97-AF65-F5344CB8AC3E}">
        <p14:creationId xmlns:p14="http://schemas.microsoft.com/office/powerpoint/2010/main" val="394835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83E0-8D5F-496D-BB28-4867BD79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347" y="100491"/>
            <a:ext cx="4711461" cy="779312"/>
          </a:xfrm>
        </p:spPr>
        <p:txBody>
          <a:bodyPr/>
          <a:lstStyle/>
          <a:p>
            <a:r>
              <a:rPr lang="en-US" dirty="0"/>
              <a:t>Feature Engineering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C018DE7-DFA9-4292-AECC-533476A0CD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74301112"/>
              </p:ext>
            </p:extLst>
          </p:nvPr>
        </p:nvGraphicFramePr>
        <p:xfrm>
          <a:off x="0" y="963051"/>
          <a:ext cx="12117238" cy="331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4846B3-8F10-4463-BD24-1672793A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762" y="4210619"/>
            <a:ext cx="10232966" cy="20087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TDF Interpretation: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Negative = access improved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Near zero = stable access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Positive = access worsened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≥25% PAP increase = High Risk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53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69CB-2453-5918-63CB-C76C8F1A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43" y="99654"/>
            <a:ext cx="10515600" cy="838343"/>
          </a:xfrm>
        </p:spPr>
        <p:txBody>
          <a:bodyPr/>
          <a:lstStyle/>
          <a:p>
            <a:r>
              <a:rPr lang="en-US" dirty="0"/>
              <a:t>Exploratory Data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AC84-24CD-01F0-AFB0-1212B1D49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81" y="1253330"/>
            <a:ext cx="4677697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pressure varies across counties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 increased sharply in selected counties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Lowndes, GA had the largest increase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EDA confirmed county-level risk patterns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417A9-3AD5-9B64-8E5B-BC0EA0F9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415" y="982411"/>
            <a:ext cx="7578704" cy="51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90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2A42-85EA-4410-D894-6332F4E9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F72FF-D654-89CC-0D55-9FAF1258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Tabular baseline: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LSTM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Spatial-temporal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ST-GNN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Higher-order network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HGNN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interaction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Tensor Train</a:t>
            </a:r>
          </a:p>
        </p:txBody>
      </p:sp>
    </p:spTree>
    <p:extLst>
      <p:ext uri="{BB962C8B-B14F-4D97-AF65-F5344CB8AC3E}">
        <p14:creationId xmlns:p14="http://schemas.microsoft.com/office/powerpoint/2010/main" val="119519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0CB0-A90D-D84D-7284-783D019D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374"/>
            <a:ext cx="4928558" cy="965850"/>
          </a:xfrm>
        </p:spPr>
        <p:txBody>
          <a:bodyPr/>
          <a:lstStyle/>
          <a:p>
            <a:pPr algn="ctr"/>
            <a:r>
              <a:rPr lang="en-US" dirty="0" err="1"/>
              <a:t>XGBoost</a:t>
            </a:r>
            <a:r>
              <a:rPr lang="en-US" dirty="0"/>
              <a:t> Modeling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5F27-AB06-97DD-3115-96ACC2F4C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12" y="1327355"/>
            <a:ext cx="4339395" cy="420624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County-year features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High Risk / Low Risk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Results</a:t>
            </a:r>
            <a:br>
              <a:rPr lang="en-IN" sz="1600" dirty="0"/>
            </a:br>
            <a:r>
              <a:rPr lang="en-IN" sz="1600" dirty="0"/>
              <a:t>Accuracy: 0.82</a:t>
            </a:r>
            <a:br>
              <a:rPr lang="en-IN" sz="1600" dirty="0"/>
            </a:br>
            <a:r>
              <a:rPr lang="en-IN" sz="1600" dirty="0"/>
              <a:t>Precision: 0.75</a:t>
            </a:r>
            <a:br>
              <a:rPr lang="en-IN" sz="1600" dirty="0"/>
            </a:br>
            <a:r>
              <a:rPr lang="en-IN" sz="1600" dirty="0"/>
              <a:t>Recall: 0.82</a:t>
            </a:r>
            <a:br>
              <a:rPr lang="en-IN" sz="1600" dirty="0"/>
            </a:br>
            <a:r>
              <a:rPr lang="en-IN" sz="1600" dirty="0"/>
              <a:t>Weighted F1-score: 0.77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IN" sz="1600" dirty="0"/>
            </a:br>
            <a:r>
              <a:rPr lang="en-IN" sz="1600" dirty="0"/>
              <a:t>Observation</a:t>
            </a:r>
            <a:br>
              <a:rPr lang="en-IN" sz="1600" dirty="0"/>
            </a:br>
            <a:r>
              <a:rPr lang="en-IN" sz="1600" dirty="0"/>
              <a:t>Best practical baseline</a:t>
            </a:r>
            <a:br>
              <a:rPr lang="en-IN" sz="1600" dirty="0"/>
            </a:br>
            <a:r>
              <a:rPr lang="en-IN" sz="1600" dirty="0"/>
              <a:t>Strong Low-Risk prediction</a:t>
            </a:r>
            <a:br>
              <a:rPr lang="en-IN" sz="1600" dirty="0"/>
            </a:br>
            <a:r>
              <a:rPr lang="en-IN" sz="1600" dirty="0"/>
              <a:t>High-Risk detection is limited 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The image depicts a bar chart illustrating the importance of various features in an XGBoost model, with 'tot_drug_cost' being the most important.">
            <a:extLst>
              <a:ext uri="{FF2B5EF4-FFF2-40B4-BE49-F238E27FC236}">
                <a16:creationId xmlns:a16="http://schemas.microsoft.com/office/drawing/2014/main" id="{E5207CCF-41EF-0684-4AA6-84EE59D16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408" y="1447601"/>
            <a:ext cx="4815072" cy="3241609"/>
          </a:xfrm>
          <a:prstGeom prst="rect">
            <a:avLst/>
          </a:prstGeom>
        </p:spPr>
      </p:pic>
      <p:pic>
        <p:nvPicPr>
          <p:cNvPr id="8" name="Picture 7" descr="The XGBoost confusion matrix shows a higher number of true positives for high risk (2189) compared to low risk (1250), with a total of 423 true positives, 1750 true negatives, and a relatively small number of false positives (58).">
            <a:extLst>
              <a:ext uri="{FF2B5EF4-FFF2-40B4-BE49-F238E27FC236}">
                <a16:creationId xmlns:a16="http://schemas.microsoft.com/office/drawing/2014/main" id="{57E5C926-256B-5A79-9F12-529F7C6FC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3" y="1516136"/>
            <a:ext cx="4117165" cy="310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6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8C07-0351-0BE2-6819-2589274E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" y="81107"/>
            <a:ext cx="5167745" cy="812511"/>
          </a:xfrm>
        </p:spPr>
        <p:txBody>
          <a:bodyPr/>
          <a:lstStyle/>
          <a:p>
            <a:r>
              <a:rPr lang="en-IN"/>
              <a:t>LSTM Temporal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C83FA-2690-7C4F-3601-05229B460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872" y="1038286"/>
            <a:ext cx="4322619" cy="47081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2-year county sequences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LSTM layers ,64 hidden units, fully connected output layer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0.83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0.64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0.83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F1-score: 0.75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patterns learned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decreased smoothly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recall = 0.00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The confusion matrix displays a high number of true negatives (568) and true positives (114) for low risk, while a small number of false negatives (200) and false positives (300) for high risk.">
            <a:extLst>
              <a:ext uri="{FF2B5EF4-FFF2-40B4-BE49-F238E27FC236}">
                <a16:creationId xmlns:a16="http://schemas.microsoft.com/office/drawing/2014/main" id="{38F0D3C8-D490-9C74-AC36-727DB0B4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986" y="81107"/>
            <a:ext cx="4671973" cy="2902973"/>
          </a:xfrm>
          <a:prstGeom prst="rect">
            <a:avLst/>
          </a:prstGeom>
        </p:spPr>
      </p:pic>
      <p:pic>
        <p:nvPicPr>
          <p:cNvPr id="4" name="Picture 3" descr="The image displays a graph depicting the training loss of an LSTM (Long Short-Term Memory) model over time, with a decreasing trend in Mean Squared Error (MSE) loss across 100 epochs.&#10;&#10;AI-generated content may be incorrect.">
            <a:extLst>
              <a:ext uri="{FF2B5EF4-FFF2-40B4-BE49-F238E27FC236}">
                <a16:creationId xmlns:a16="http://schemas.microsoft.com/office/drawing/2014/main" id="{05FB7BA0-3D6A-991A-F334-2FF5F5149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944" y="3114858"/>
            <a:ext cx="6389583" cy="345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67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99FC-2FEA-DAA7-ECA3-DC876E6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887" y="0"/>
            <a:ext cx="3616036" cy="826872"/>
          </a:xfrm>
        </p:spPr>
        <p:txBody>
          <a:bodyPr/>
          <a:lstStyle/>
          <a:p>
            <a:r>
              <a:rPr lang="en-IN" dirty="0"/>
              <a:t>ST-GNN Model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06916-DC79-4D5C-1198-2F2A7BEF4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33" y="789415"/>
            <a:ext cx="4338768" cy="575585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Input: Spatial-temporal features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Model: ST-GNN classifier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High Risk / Low Risk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Accuracy: 0.72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Precision: 0.26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Recall: 0.25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F1-score: 0.26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ROC-AUC: 0.58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Neighbor context added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Detected 202 High-Risk cases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separation remained weak</a:t>
            </a:r>
            <a:endParaRPr lang="en-IN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The image displays a confusion matrix for a binary classification model, indicating the number of true positives (250), false positives (473), true negatives (202), and false negatives (750) for distinguishing between high risk and low risk categories.&#10;&#10;AI-generated content may be incorrect.">
            <a:extLst>
              <a:ext uri="{FF2B5EF4-FFF2-40B4-BE49-F238E27FC236}">
                <a16:creationId xmlns:a16="http://schemas.microsoft.com/office/drawing/2014/main" id="{14F9B296-8EFF-4CD3-6846-56D6BB137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558" y="108249"/>
            <a:ext cx="5340107" cy="2723441"/>
          </a:xfrm>
          <a:prstGeom prst="rect">
            <a:avLst/>
          </a:prstGeom>
        </p:spPr>
      </p:pic>
      <p:pic>
        <p:nvPicPr>
          <p:cNvPr id="5" name="Picture 4" descr="The image depicts a confusion matrix for binary classification and an ROC curve for an ST-GNN model, illustrating performance metrics such as true positive rate, false positive rate, and AUC score.&#10;&#10;AI-generated content may be incorrect.">
            <a:extLst>
              <a:ext uri="{FF2B5EF4-FFF2-40B4-BE49-F238E27FC236}">
                <a16:creationId xmlns:a16="http://schemas.microsoft.com/office/drawing/2014/main" id="{3A2652E7-9433-71CF-8315-4B478FFC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350"/>
          <a:stretch>
            <a:fillRect/>
          </a:stretch>
        </p:blipFill>
        <p:spPr>
          <a:xfrm>
            <a:off x="5645683" y="3140036"/>
            <a:ext cx="4841157" cy="340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7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716D-D3E4-9F52-480F-7983E46DD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43" y="258961"/>
            <a:ext cx="8202283" cy="730202"/>
          </a:xfrm>
        </p:spPr>
        <p:txBody>
          <a:bodyPr/>
          <a:lstStyle/>
          <a:p>
            <a:r>
              <a:rPr lang="en-US" dirty="0"/>
              <a:t>HGNN Modeling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66679-AD99-2FDB-1490-3BBAB07B2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43" y="885851"/>
            <a:ext cx="5297412" cy="546596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Input: Higher-order county patterns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Model: HGNN classifier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High Risk / Low Risk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Accuracy: 0.72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Precision: 0.23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Recall: 0.26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F1-score: 0.29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ROC-AUC: 0.58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Higher-order patterns captured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Detected 193 High-Risk cases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separation improved slightly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he HGNN Confusion Matrix shows 2487 true negatives, 440 false positives, 483 false negatives, and 193 true positives, indicating the model's performance in distinguishing between low and high risk labels.&#10;&#10;AI-generated content may be incorrect.">
            <a:extLst>
              <a:ext uri="{FF2B5EF4-FFF2-40B4-BE49-F238E27FC236}">
                <a16:creationId xmlns:a16="http://schemas.microsoft.com/office/drawing/2014/main" id="{7433BC5B-E378-1C09-8851-BEAF061B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899" y="258961"/>
            <a:ext cx="4736601" cy="2796296"/>
          </a:xfrm>
          <a:prstGeom prst="rect">
            <a:avLst/>
          </a:prstGeom>
        </p:spPr>
      </p:pic>
      <p:pic>
        <p:nvPicPr>
          <p:cNvPr id="10" name="Picture 9" descr="The image displays a Receiver Operating Characteristic (ROC) curve comparing the HGNN (Health Genomic Network) model's performance against a random classifier, highlighting accuracy, precision, recall, and the Area Under the Curve (AUC) for health-related feature importance.&#10;&#10;AI-generated content may be incorrect.">
            <a:extLst>
              <a:ext uri="{FF2B5EF4-FFF2-40B4-BE49-F238E27FC236}">
                <a16:creationId xmlns:a16="http://schemas.microsoft.com/office/drawing/2014/main" id="{08E7BAA7-62FA-82CA-7896-67F5AA60C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03"/>
          <a:stretch>
            <a:fillRect/>
          </a:stretch>
        </p:blipFill>
        <p:spPr>
          <a:xfrm>
            <a:off x="5606571" y="3226279"/>
            <a:ext cx="5780298" cy="32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2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6C85-8823-D898-1CD4-739F8674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" y="120651"/>
            <a:ext cx="5396345" cy="867929"/>
          </a:xfrm>
        </p:spPr>
        <p:txBody>
          <a:bodyPr/>
          <a:lstStyle/>
          <a:p>
            <a:r>
              <a:rPr lang="en-IN" dirty="0"/>
              <a:t>Tensor Train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9541-76C0-54E6-0A21-D22A6299B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5" y="1319333"/>
            <a:ext cx="4066308" cy="46225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Input: Feature interaction data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Model: Tensor Train classifier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High Risk / Low Risk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Accuracy: 0.84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Precision: 0.35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Recall: 0.06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F1-score: 0.08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Observation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Highest accuracy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Strong Low-Risk prediction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High-Risk recall very weak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B315F3-7B9D-1C4B-2D6A-2288387A7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049" y="286115"/>
            <a:ext cx="5181900" cy="2899538"/>
          </a:xfrm>
          <a:prstGeom prst="rect">
            <a:avLst/>
          </a:prstGeom>
        </p:spPr>
      </p:pic>
      <p:pic>
        <p:nvPicPr>
          <p:cNvPr id="9" name="Picture 8" descr="The diagram displays a decision boundary for a binary classification problem, illustrating the predicted probabilities of being in a low or high risk category across various sample indices.&#10;&#10;AI-generated content may be incorrect.">
            <a:extLst>
              <a:ext uri="{FF2B5EF4-FFF2-40B4-BE49-F238E27FC236}">
                <a16:creationId xmlns:a16="http://schemas.microsoft.com/office/drawing/2014/main" id="{2EFB78ED-876E-B7D4-6725-CA9A50BD0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820" y="3557879"/>
            <a:ext cx="6831453" cy="317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36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F255-B056-55C3-015F-11F1ED3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10" y="89743"/>
            <a:ext cx="5726148" cy="1750559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Comparison: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Advanced Models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66659A-010F-9855-5BBC-2A072ADFA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70858"/>
              </p:ext>
            </p:extLst>
          </p:nvPr>
        </p:nvGraphicFramePr>
        <p:xfrm>
          <a:off x="6096000" y="89743"/>
          <a:ext cx="5998334" cy="3202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126">
                  <a:extLst>
                    <a:ext uri="{9D8B030D-6E8A-4147-A177-3AD203B41FA5}">
                      <a16:colId xmlns:a16="http://schemas.microsoft.com/office/drawing/2014/main" val="3376716394"/>
                    </a:ext>
                  </a:extLst>
                </a:gridCol>
                <a:gridCol w="1421814">
                  <a:extLst>
                    <a:ext uri="{9D8B030D-6E8A-4147-A177-3AD203B41FA5}">
                      <a16:colId xmlns:a16="http://schemas.microsoft.com/office/drawing/2014/main" val="1963996428"/>
                    </a:ext>
                  </a:extLst>
                </a:gridCol>
                <a:gridCol w="1197627">
                  <a:extLst>
                    <a:ext uri="{9D8B030D-6E8A-4147-A177-3AD203B41FA5}">
                      <a16:colId xmlns:a16="http://schemas.microsoft.com/office/drawing/2014/main" val="689836566"/>
                    </a:ext>
                  </a:extLst>
                </a:gridCol>
                <a:gridCol w="2077767">
                  <a:extLst>
                    <a:ext uri="{9D8B030D-6E8A-4147-A177-3AD203B41FA5}">
                      <a16:colId xmlns:a16="http://schemas.microsoft.com/office/drawing/2014/main" val="6925158"/>
                    </a:ext>
                  </a:extLst>
                </a:gridCol>
              </a:tblGrid>
              <a:tr h="398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684996"/>
                  </a:ext>
                </a:extLst>
              </a:tr>
              <a:tr h="560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practical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248521"/>
                  </a:ext>
                </a:extLst>
              </a:tr>
              <a:tr h="560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Missed High-Risk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25977"/>
                  </a:ext>
                </a:extLst>
              </a:tr>
              <a:tr h="560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ST-GNN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Detected 202 High-Risk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480083"/>
                  </a:ext>
                </a:extLst>
              </a:tr>
              <a:tr h="560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HGNN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class separation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953404"/>
                  </a:ext>
                </a:extLst>
              </a:tr>
              <a:tr h="560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 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accuracy, weak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5871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C40A75D-CAFE-CBAE-C3ED-8187E00426DD}"/>
              </a:ext>
            </a:extLst>
          </p:cNvPr>
          <p:cNvSpPr txBox="1"/>
          <p:nvPr/>
        </p:nvSpPr>
        <p:spPr>
          <a:xfrm>
            <a:off x="149610" y="1902521"/>
            <a:ext cx="511031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as the baseline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 were compared against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 Train had the highest accuracy but very low F1-score.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alone was not enough because High-Risk recall was weak.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ST-GNN and HGNN captured spatial patterns but had weak precision/recall.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remained the best practical baseline due to balanced performance and interpretability.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The diagram shows a comparison of various baseline and advanced models' accuracy, with XGBoost, LSTM, ST-GNN, and HGNN models performing better than the temporal baseline.&#10;&#10;AI-generated content may be incorrect.">
            <a:extLst>
              <a:ext uri="{FF2B5EF4-FFF2-40B4-BE49-F238E27FC236}">
                <a16:creationId xmlns:a16="http://schemas.microsoft.com/office/drawing/2014/main" id="{31803111-6AB9-F04F-151C-DF6025E99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106" y="3566163"/>
            <a:ext cx="6461284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05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0A25-21EA-65D7-46DB-1749C9F91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71211"/>
            <a:ext cx="10515600" cy="1325563"/>
          </a:xfrm>
        </p:spPr>
        <p:txBody>
          <a:bodyPr/>
          <a:lstStyle/>
          <a:p>
            <a:r>
              <a:rPr lang="en-US" dirty="0"/>
              <a:t>Findings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91D2-01A3-A8C3-CDA6-FDDD062D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146639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 measured beneficiary load per pharmacy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TDF captured yearly access-pressure change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gave the most practical performance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learned temporal trends but missed High Risk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ST-GNN and HGNN improved High-Risk detection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 Train had high accuracy but weak recall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18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3645-858A-8353-E746-7986A2D3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242" y="64417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D5AD-FF4D-8F48-45AD-11C78183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55" y="1310124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a county-year pharmacy risk pipeline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Engineered PAP and TDF access-risk features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tabular, temporal, spatial, and tensor models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as the best practical baseline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supports early pharmacy desert risk monitoring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support proactive pharmacy access planning.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09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48CA-FC6F-21AE-1A7F-77CB3A007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0000"/>
              <a:t>THANK YOU</a:t>
            </a:r>
            <a:endParaRPr lang="en-IN" sz="10000" dirty="0"/>
          </a:p>
        </p:txBody>
      </p:sp>
    </p:spTree>
    <p:extLst>
      <p:ext uri="{BB962C8B-B14F-4D97-AF65-F5344CB8AC3E}">
        <p14:creationId xmlns:p14="http://schemas.microsoft.com/office/powerpoint/2010/main" val="150110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5327</TotalTime>
  <Words>817</Words>
  <Application>Microsoft Office PowerPoint</Application>
  <PresentationFormat>Widescreen</PresentationFormat>
  <Paragraphs>205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Wingdings</vt:lpstr>
      <vt:lpstr>Office Theme</vt:lpstr>
      <vt:lpstr>Pharmacy Desert Risk Prediction Using Machine Learning</vt:lpstr>
      <vt:lpstr>INTRODUCTION</vt:lpstr>
      <vt:lpstr>PROBLEM STATEMENT </vt:lpstr>
      <vt:lpstr>DATA COLLECTION </vt:lpstr>
      <vt:lpstr>Data Preprocessing and Cleaning</vt:lpstr>
      <vt:lpstr>Feature Engineering </vt:lpstr>
      <vt:lpstr>Exploratory Data Analysis </vt:lpstr>
      <vt:lpstr>ML MODELS</vt:lpstr>
      <vt:lpstr>XGBoost Modeling  </vt:lpstr>
      <vt:lpstr>LSTM Temporal Model</vt:lpstr>
      <vt:lpstr>ST-GNN Model </vt:lpstr>
      <vt:lpstr>HGNN Modeling </vt:lpstr>
      <vt:lpstr>Tensor Train Network</vt:lpstr>
      <vt:lpstr>Baseline Comparison: XGBoost vs Advanced Models</vt:lpstr>
      <vt:lpstr>Findings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devaraju Sriram</dc:creator>
  <cp:lastModifiedBy>devaraju Sriram</cp:lastModifiedBy>
  <cp:revision>32</cp:revision>
  <dcterms:created xsi:type="dcterms:W3CDTF">2026-06-15T19:51:00Z</dcterms:created>
  <dcterms:modified xsi:type="dcterms:W3CDTF">2026-06-28T01:47:14Z</dcterms:modified>
</cp:coreProperties>
</file>